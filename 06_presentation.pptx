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E11D4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11D4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Month-to-month</c:v>
                  </c:pt>
                  <c:pt idx="1">
                    <c:v>One year</c:v>
                  </c:pt>
                  <c:pt idx="2">
                    <c:v>Two year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31.4</c:v>
                </c:pt>
                <c:pt idx="1">
                  <c:v>13.1</c:v>
                </c:pt>
                <c:pt idx="2">
                  <c:v>10.2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0-12 mo</c:v>
                  </c:pt>
                  <c:pt idx="1">
                    <c:v>13-24 mo</c:v>
                  </c:pt>
                  <c:pt idx="2">
                    <c:v>25-48 mo</c:v>
                  </c:pt>
                  <c:pt idx="3">
                    <c:v>49+ mo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</c:v>
                </c:pt>
                <c:pt idx="1">
                  <c:v>19.4</c:v>
                </c:pt>
                <c:pt idx="2">
                  <c:v>17.2</c:v>
                </c:pt>
                <c:pt idx="3">
                  <c:v>15.9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E11D4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11D4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Fiber optic</c:v>
                  </c:pt>
                  <c:pt idx="1">
                    <c:v>DSL</c:v>
                  </c:pt>
                  <c:pt idx="2">
                    <c:v>No internet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27.9</c:v>
                </c:pt>
                <c:pt idx="1">
                  <c:v>18.6</c:v>
                </c:pt>
                <c:pt idx="2">
                  <c:v>16.7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audience. Reiterate the two headline numbers: 22.3% overall churn, and month-to-month customers churning 3x more than two-year customers. Close by inviting questions on the recommended pilot campaigns.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Telco Customer Churn Analysis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337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at-risk customers and building a data-driven retention plan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Capstone Project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92640" y="914400"/>
            <a:ext cx="2011680" cy="2011680"/>
          </a:xfrm>
          <a:prstGeom prst="ellipse">
            <a:avLst/>
          </a:prstGeom>
          <a:solidFill>
            <a:srgbClr val="0F766E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0" y="2011680"/>
            <a:ext cx="1188720" cy="1188720"/>
          </a:xfrm>
          <a:prstGeom prst="ellipse">
            <a:avLst/>
          </a:prstGeom>
          <a:solidFill>
            <a:srgbClr val="0F766E">
              <a:alpha val="6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is losing approximately </a:t>
            </a:r>
            <a:pPr indent="0" marL="0">
              <a:buNone/>
            </a:pPr>
            <a:r>
              <a:rPr lang="en-US" sz="19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4 customers</a:t>
            </a:r>
            <a:pPr indent="0" marL="0">
              <a:buNone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churn.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 segments are most likely to churn, and what specific, actionable steps can the retention team take to reduce churn rate?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329184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886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drivers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2519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top 3-5 factors most strongly associated with churn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30175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66160" y="329184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3886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customers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42519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customers into risk tiers based on those factors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0175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329184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3886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impact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42519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revenue at risk in the highest-risk segments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15400" y="30175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44000" y="329184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0" y="3886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action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0" y="42519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specific, data-backed retention recommendations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Analysis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 customers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attributes: demographics, account info, services subscribed, charges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Churn (Yes/No)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structure matches the widely-used Telco Customer Churn dataset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4160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TotalCharges data type; handled blanks for new customers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8 missing MultipleLines values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15 duplicate records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TenureGroup feature for segmentation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0B1E2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approach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75120" y="2194560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194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23760" y="221284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preprocess raw data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75120" y="3154680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223760" y="317296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of churn drivers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75120" y="4114800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4114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23760" y="413308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for ongoing monitoring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75120" y="5074920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5074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23760" y="509320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findings into recommendations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Analysis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1: Contract Length Drives Churn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churn at roughly 3x the rate of two-year customers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50876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498080" y="164592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31.4%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49808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churn rate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498080" y="301752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498080" y="315468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7498080" y="3977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than 2-year contracts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98080" y="452628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498080" y="4663440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7498080" y="5577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are month-to-month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Analysis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2 &amp; 3: Tenure and Internet Service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tenure group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263640" y="1051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internet service</a:t>
            </a:r>
            <a:endParaRPr lang="en-US" sz="14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6263640" y="1417320"/>
          <a:ext cx="5394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(first 12 months) churn almost 2x more than long-tenured customers  |  Fiber optic, the premium product, has the highest churn of any internet type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Analysis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Retention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by contract, internet service, payment method, and senior citizen status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7647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14884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count, churn rate, revenue at risk, and avg. tenure recalculate instantly as filters change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38328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31821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driver charts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356616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Contract, tenure, internet service, and payment method churn rates, side by side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80060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5994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drill-down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498348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to any combination (e.g., fiber + month-to-month) to size a targeted campaign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Analysis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62763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Contract-conversion campaign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Incentivize month-to-month customers to switch to 1-year contracts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1371600"/>
            <a:ext cx="53492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164592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86600" y="162763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First-year onboarding program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233172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call, day-30 check-in, day-90 survey for new customers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53492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11480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409651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Autopay adoption push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80060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bill credit to move electronic-check payers to autopay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26480" y="3840480"/>
            <a:ext cx="53492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4114800"/>
            <a:ext cx="502920" cy="50292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86600" y="409651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pricing &amp; service review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0" y="480060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complaints and pricing for the premium fiber product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Analysis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Correlational, not causal — findings show association, not proof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customer-service ticket or complaint data to confirm root causes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snapshot; doesn't capture trends over time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37160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0B1E2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2940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29400" y="2103120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contract &amp; autopay campaigns on a small segment first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predictive churn-scoring model to flag at-risk accounts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this analysis quarterly to track intervention impact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Analysis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5661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analysis, cleaned data, dashboard, and notebooks available in the project repository.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692640" y="4206240"/>
            <a:ext cx="2011680" cy="2011680"/>
          </a:xfrm>
          <a:prstGeom prst="ellipse">
            <a:avLst/>
          </a:prstGeom>
          <a:solidFill>
            <a:srgbClr val="0F766E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5120640"/>
            <a:ext cx="1005840" cy="1005840"/>
          </a:xfrm>
          <a:prstGeom prst="ellipse">
            <a:avLst/>
          </a:prstGeom>
          <a:solidFill>
            <a:srgbClr val="0F766E">
              <a:alpha val="6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Telco Customer Churn Analysis</dc:title>
  <dc:subject>PptxGenJS Presentation</dc:subject>
  <dc:creator>Data Analyst Capstone</dc:creator>
  <cp:lastModifiedBy>Data Analyst Capstone</cp:lastModifiedBy>
  <cp:revision>1</cp:revision>
  <dcterms:created xsi:type="dcterms:W3CDTF">2026-07-01T18:42:44Z</dcterms:created>
  <dcterms:modified xsi:type="dcterms:W3CDTF">2026-07-01T18:42:44Z</dcterms:modified>
</cp:coreProperties>
</file>